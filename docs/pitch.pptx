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Three steps, and the word that matters is agentic — it acts, so the question is what it is ABLE to do. Every step is BOTH: the model proposes, code disposes. Do not claim any step is pure Python — step 1 is a model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is the point: six decisions, five of them made in code. The cards answer the brief's four named components — orchestration, tools, memory,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columns aloud. Land the closing line: a guardrail runs whether or not the model co-operates. A prompt instruction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key-card line works on a mixed room. Then the mechanism, then the 0 rows. Close with the production answer so nobody thinks you believe hand-rolled JWTs are the endgame.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evidence, not aspiration. The three bugs are the strongest thing here — they show the eval suite does work, rather than being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walk here unprompted. Turn to it when someone asks who signs the token. Lead with the seam, not the weakness: the swap is one file and the architectural claim is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does three things.</a:t>
            </a:r>
            <a:endParaRPr lang="en-US" sz="3300" dirty="0"/>
          </a:p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where a guardrail belongs.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221284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out what you need. Find out who you are. Serve you. That is the whole job — and it is agentic, which changes the stakes. A chatbot that says something wrong is embarrassing. An agent that DOES something wrong is an incident: it read another customer's order, approved a refund outside policy, promised a delivery date nobody can keep. So the question is never “will it say the right thing”. It is what is it able to 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3401568"/>
            <a:ext cx="3602736" cy="1664208"/>
          </a:xfrm>
          <a:prstGeom prst="roundRect">
            <a:avLst>
              <a:gd name="adj" fmla="val 3297"/>
            </a:avLst>
          </a:prstGeom>
          <a:solidFill>
            <a:srgbClr val="2A2621"/>
          </a:solidFill>
          <a:ln w="9525">
            <a:solidFill>
              <a:srgbClr val="3D37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547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What you need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68096" y="387705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3A2A20"/>
          </a:solidFill>
          <a:ln w="9525">
            <a:solidFill>
              <a:srgbClr val="D98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38770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408176" y="38404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 messy sentence and proposes an intent — a constrained classification call.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8096" y="4443984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281E"/>
          </a:solidFill>
          <a:ln w="9525">
            <a:solidFill>
              <a:srgbClr val="63B9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44439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63B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408176" y="44074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confidence floor, the routing table, and the keyword fallback if it fails.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3401568"/>
            <a:ext cx="3602736" cy="1664208"/>
          </a:xfrm>
          <a:prstGeom prst="roundRect">
            <a:avLst>
              <a:gd name="adj" fmla="val 3297"/>
            </a:avLst>
          </a:prstGeom>
          <a:solidFill>
            <a:srgbClr val="2A2621"/>
          </a:solidFill>
          <a:ln w="9525">
            <a:solidFill>
              <a:srgbClr val="3D37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3547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Who you are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44568" y="387705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3A2A20"/>
          </a:solidFill>
          <a:ln w="9525">
            <a:solidFill>
              <a:srgbClr val="D98D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38770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184648" y="38404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the two factors from the conversation and submits them.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44568" y="4443984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281E"/>
          </a:solidFill>
          <a:ln w="9525">
            <a:solidFill>
              <a:srgbClr val="63B9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44439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63B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184648" y="44074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them, mints the scoped token, locks out after three tries.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19872" y="3401568"/>
            <a:ext cx="3602736" cy="1664208"/>
          </a:xfrm>
          <a:prstGeom prst="roundRect">
            <a:avLst>
              <a:gd name="adj" fmla="val 3297"/>
            </a:avLst>
          </a:prstGeom>
          <a:solidFill>
            <a:srgbClr val="2A2621"/>
          </a:solidFill>
          <a:ln w="9525">
            <a:solidFill>
              <a:srgbClr val="3D37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3547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Serve you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387705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3A2A20"/>
          </a:solidFill>
          <a:ln w="9525">
            <a:solidFill>
              <a:srgbClr val="D98D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8770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8961120" y="38404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Chooses a tool and writes what the customer reads.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321040" y="4443984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281E"/>
          </a:solidFill>
          <a:ln w="9525">
            <a:solidFill>
              <a:srgbClr val="63B9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4439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60" kern="0" dirty="0">
                <a:solidFill>
                  <a:srgbClr val="63B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8961120" y="44074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which tools exist, re-validates policy, forces the handoff.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524865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is probabilistic and deterministic. The model proposes; code disposes.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probabilistic is ever the last word.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decision actually lives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642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962656" y="1664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584448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DECIDED BY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956816"/>
            <a:ext cx="5943600" cy="0"/>
          </a:xfrm>
          <a:prstGeom prst="line">
            <a:avLst/>
          </a:prstGeom>
          <a:noFill/>
          <a:ln w="9525">
            <a:solidFill>
              <a:srgbClr val="E5D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57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intent is this?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62656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4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84448" y="2057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constrained classification call on a cheaper model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5943600" cy="0"/>
          </a:xfrm>
          <a:prstGeom prst="line">
            <a:avLst/>
          </a:prstGeom>
          <a:noFill/>
          <a:ln w="9525">
            <a:solidFill>
              <a:srgbClr val="E5D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24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need identity?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62656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4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1→2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84448" y="26243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dict in tools/__init__.py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090672"/>
            <a:ext cx="5943600" cy="0"/>
          </a:xfrm>
          <a:prstGeom prst="line">
            <a:avLst/>
          </a:prstGeom>
          <a:noFill/>
          <a:ln w="9525">
            <a:solidFill>
              <a:srgbClr val="E5D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912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person who they say?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62656" y="31912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4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84448" y="31912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hmac.compare_digest against Postgres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657600"/>
            <a:ext cx="5943600" cy="0"/>
          </a:xfrm>
          <a:prstGeom prst="line">
            <a:avLst/>
          </a:prstGeom>
          <a:noFill/>
          <a:ln w="9525">
            <a:solidFill>
              <a:srgbClr val="E5D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758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data can be read?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62656" y="3758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4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2→3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84448" y="37581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 claim of a signed token, server-side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224528"/>
            <a:ext cx="5943600" cy="0"/>
          </a:xfrm>
          <a:prstGeom prst="line">
            <a:avLst/>
          </a:prstGeom>
          <a:noFill/>
          <a:ln w="9525">
            <a:solidFill>
              <a:srgbClr val="E5D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3251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this return be approved?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962656" y="4325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4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84448" y="4325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pure function — 30 days, 90 if damaged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791456"/>
            <a:ext cx="5943600" cy="0"/>
          </a:xfrm>
          <a:prstGeom prst="line">
            <a:avLst/>
          </a:prstGeom>
          <a:noFill/>
          <a:ln w="9525">
            <a:solidFill>
              <a:srgbClr val="E5D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892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we fetch a human?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962656" y="4892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4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84448" y="4892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results and a loop budget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12280" y="1664208"/>
            <a:ext cx="480060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5D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31736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31736" y="2066544"/>
            <a:ext cx="4361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framework — the loop is the architecture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031736" y="2350008"/>
            <a:ext cx="436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tool-calling loop is fifty lines of Python, not LangChain and not the SDK's runner. It recomputes the tool list on every iteration, so verifying mid-turn widens access for the very next model call. A framework takes the list once per turn — which would make the customer ask twice.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12280" y="3300984"/>
            <a:ext cx="480060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5DF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31736" y="34655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31736" y="3703320"/>
            <a:ext cx="4361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Slots, not stages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031736" y="3986784"/>
            <a:ext cx="436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history, session state, Postgres. Someone who gives email, ZIP and order number in one sentence is never walked back through three questions.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12280" y="4937760"/>
            <a:ext cx="480060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5DF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51023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031736" y="5340096"/>
            <a:ext cx="4361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asks; the code enforces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031736" y="5623560"/>
            <a:ext cx="436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Tone, and rules worth stating twice — never assert a fact a tool did not return, never guess an email. The return windows and the tool gating are NOT in here. If the model ignored every word of it, you would get a clumsier reply, not a policy breach.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12"/>
              </a:lnSpc>
              <a:buNone/>
            </a:pPr>
            <a:r>
              <a:rPr lang="en-US" sz="2600" b="1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set per step — and not one of them is a sentence in a prompt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602736" cy="3054096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9525">
            <a:solidFill>
              <a:srgbClr val="E5D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8366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WHAT YOU NEED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86384" y="2176272"/>
            <a:ext cx="3163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is its own constrained call, not a side effect of generation.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under 0.6 asks a clarifying question instead of guessing.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intent is unclear, no customer-data tool is sent at all.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router fails it falls back to keywords — never to “unclear”, which would silently disarm the agent.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700784"/>
            <a:ext cx="3602736" cy="3054096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9525">
            <a:solidFill>
              <a:srgbClr val="E5D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2856" y="188366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WHO YOU ARE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62856" y="2176272"/>
            <a:ext cx="3163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never compares the ZIP. It receives a boolean.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ZIP and an unknown email fail identically — no account-enumeration oracle.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attempts, then locked — and verify_customer disappears from the tool list.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never enters the transcript, so it cannot be echoed back out.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19872" y="1700784"/>
            <a:ext cx="3602736" cy="3054096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9525">
            <a:solidFill>
              <a:srgbClr val="E5D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188366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SERVE YOU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339328" y="2176272"/>
            <a:ext cx="31638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are filtered by state before the model sees them.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windows are a pure function; the write path re-validates.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fact may be stated that a tool did not return.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budget spent, or a tool says human-review — hand off, with the working attached.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499262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is a line of Python that runs whether or not the model co-operates.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difference between a guardrail and a wish.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GUARDRAIL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service: a key card cut for one customer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ID at the desk and you get a key card. It opens your room — not the one next door, not the manager's office — and it stops working when you check out. That card is what step 2 issues, and every action in step 3 has to use it. The sub claim is the room number — customer 1 is Sarah.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5431536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E5D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542032"/>
            <a:ext cx="5029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D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"iss": "bookly-identity",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D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"1",           &lt;- customers.id: this token IS Sarah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D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"scope": ["orders:read", "returns:write",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D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"notifications:send"],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D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"amr":  ["email", "shipping_zip"],</a:t>
            </a:r>
            <a:endParaRPr lang="en-US" sz="9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D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 iat + 600 }   &lt;- about one conversation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4005072"/>
            <a:ext cx="5431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 tool accepts a customer id.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parameter in any schema the model receives. Every scoped read derives it from sub, server-side. There is no argument through which to ask for someone else.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9632" y="2395728"/>
            <a:ext cx="5431536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E5D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54203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D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verified as Sarah, asked for Marcus's order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D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order_number, carrier, tracking_no FROM orders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D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customer_id = 1        &lt;- the same 1 as "sub"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D1B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upper(order_number) = upper('BK-10102')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99632" y="3639312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FBE9E7"/>
          </a:solidFill>
          <a:ln w="12700">
            <a:solidFill>
              <a:srgbClr val="9C30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36393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30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rows · 2.5 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99632" y="4151376"/>
            <a:ext cx="5431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polite refusal is the model behaving well.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empty result is the part that still holds when it doesn't.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5029200"/>
            <a:ext cx="11064240" cy="0"/>
          </a:xfrm>
          <a:prstGeom prst="line">
            <a:avLst/>
          </a:prstGeom>
          <a:noFill/>
          <a:ln w="9525">
            <a:solidFill>
              <a:srgbClr val="E5D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515721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trade-off, and the production answer: 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minting is hand-rolled, which is not what you would ship. In production this is a token exchange against the IdP you already run — client credentials for the service leg, RFC 8693 for the user leg. The plumbing changes; the property that matters does not.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I'D CHANGE FIRST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the evals already caught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292608" cy="292608"/>
          </a:xfrm>
          <a:prstGeom prst="ellipse">
            <a:avLst/>
          </a:prstGeom>
          <a:solidFill>
            <a:srgbClr val="3A2A20"/>
          </a:solidFill>
          <a:ln w="9525">
            <a:solidFill>
              <a:srgbClr val="D98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166420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the responses.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1938528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remaining latency win. The agent speaks, calls a tool, speaks again — today the customer waits through all of it before seeing a word.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542032"/>
            <a:ext cx="292608" cy="292608"/>
          </a:xfrm>
          <a:prstGeom prst="ellipse">
            <a:avLst/>
          </a:prstGeom>
          <a:solidFill>
            <a:srgbClr val="3A2A20"/>
          </a:solidFill>
          <a:ln w="9525">
            <a:solidFill>
              <a:srgbClr val="D98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evals against the live model in CI.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798064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conversations prove the orchestration; they say nothing about how the real model behaves under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401568"/>
            <a:ext cx="292608" cy="292608"/>
          </a:xfrm>
          <a:prstGeom prst="ellipse">
            <a:avLst/>
          </a:prstGeom>
          <a:solidFill>
            <a:srgbClr val="3A2A20"/>
          </a:solidFill>
          <a:ln w="9525">
            <a:solidFill>
              <a:srgbClr val="D98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exchange instead of hand-rolled minting.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36576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scoped token, issued by the IdP you already run. The property that matters survives the swap.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292608" cy="292608"/>
          </a:xfrm>
          <a:prstGeom prst="ellipse">
            <a:avLst/>
          </a:prstGeom>
          <a:solidFill>
            <a:srgbClr val="3A2A20"/>
          </a:solidFill>
          <a:ln w="9525">
            <a:solidFill>
              <a:srgbClr val="D98D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424281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as a service the CX team owns.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451713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windows should not require a deploy.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1664208"/>
            <a:ext cx="4297680" cy="3035808"/>
          </a:xfrm>
          <a:prstGeom prst="roundRect">
            <a:avLst>
              <a:gd name="adj" fmla="val 1807"/>
            </a:avLst>
          </a:prstGeom>
          <a:solidFill>
            <a:srgbClr val="2A2621"/>
          </a:solidFill>
          <a:ln w="9525">
            <a:solidFill>
              <a:srgbClr val="3D37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18470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71232" y="210312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checks, and three real bugs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71232" y="2487168"/>
            <a:ext cx="3785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scripted conversations assert on the trace — including that a tool was never reachable, not merely never called. Three probes bypass the conversation entirely: token scoping, backend failure, and an attempt to redirect an outbound email.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71232" y="3621024"/>
            <a:ext cx="3785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9F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caught an order number parsed as a ZIP code, a turn's first message silently dropped, and a schema the API rejects — which had quietly disabled routing on every turn.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499262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AF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Deflection rate is a vanity metric if the contained conversations were bad ones.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D98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assert the properties that survive a model swap.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IF ASKED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service, and what would replace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3153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5D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28800"/>
            <a:ext cx="4956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· HAND-ROLLED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04672" y="2103120"/>
            <a:ext cx="495604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hmac.compare_digest against my own table.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HS256 — one shared secret both signs and verifies, so anything that can check a token can also mint one.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 is self-attested: my word, in a token I signed, for how I checked.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revocation. A JWT is valid until exp — the 10-minute TTL is damage limitation, not a kill switch.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 rotation, no kid. Rotating invalidates every live token at once.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are knowledge-based: email plus a ZIP.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3153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E5D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7376" y="1828800"/>
            <a:ext cx="4956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· THE IDP YOU ALREADY RUN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37376" y="2103120"/>
            <a:ext cx="495604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authentication by private_key_jwt or mTLS — or workload identity, and no static credential at all.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8693 token exchange mints a token scoped to one customer, audienced to the order service.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 claim records the delegation — the agent, acting for Sarah — revocable without touching her account.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signing plus JWKS: verifiers can verify and can never mint.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IdP owns MFA, lockout, risk signals, revocation and the audit trail.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F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become possession-based: a link, a code, a passkey.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504748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seam is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8A4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lines and two functions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D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twelve call sites, all through that pair. The swap makes identity.py smaller, and none of this moves: no tool accepts a customer id, every read still derives from sub, tools stay gated on auth state.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Bookly support agent — architecture &amp; decisions</dc:title>
  <dc:subject>PptxGenJS Presentation</dc:subject>
  <dc:creator>Bookly</dc:creator>
  <cp:lastModifiedBy>Bookly</cp:lastModifiedBy>
  <cp:revision>1</cp:revision>
  <dcterms:created xsi:type="dcterms:W3CDTF">2026-08-22T06:37:14Z</dcterms:created>
  <dcterms:modified xsi:type="dcterms:W3CDTF">2026-08-22T06:37:14Z</dcterms:modified>
</cp:coreProperties>
</file>