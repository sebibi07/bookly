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three annoyances — it is personal and it disarms. Then the three steps. The pivot sentence is the last one: the order that makes the customer experience good is the same order that makes it safe.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table is the point: six decisions, five of them made in code. The cards answer the brief's four named components — orchestration, tools, memory, prompts.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read the columns aloud. Land the closing line: a guardrail runs whether or not the model co-operates. A prompt instruction does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key-card line works on a mixed room. Then the mechanism, then the 0 rows. Close with the production answer so nobody thinks you believe hand-rolled JWTs are the endgame.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evidence, not aspiration. The three bugs are the strongest thing here — they show the eval suite does work, rather than being decoration.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walk here unprompted. Turn to it when someone asks who signs the token. Lead with the seam, not the weakness: the swap is one file and the architectural claim is untouched.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1B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D98D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THESIS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11064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96"/>
              </a:lnSpc>
              <a:buNone/>
            </a:pPr>
            <a:r>
              <a:rPr lang="en-US" sz="3300" b="1" dirty="0">
                <a:solidFill>
                  <a:srgbClr val="FAF8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out what you need.</a:t>
            </a:r>
            <a:endParaRPr lang="en-US" sz="3300" dirty="0"/>
          </a:p>
          <a:p>
            <a:pPr indent="0" marL="0">
              <a:lnSpc>
                <a:spcPts val="3696"/>
              </a:lnSpc>
              <a:buNone/>
            </a:pPr>
            <a:r>
              <a:rPr lang="en-US" sz="3300" b="1" dirty="0">
                <a:solidFill>
                  <a:srgbClr val="FAF8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out who you are. Then serve you.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66928" y="228600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0"/>
              </a:lnSpc>
              <a:buNone/>
            </a:pPr>
            <a:r>
              <a:rPr lang="en-US" sz="1350" dirty="0">
                <a:solidFill>
                  <a:srgbClr val="A79F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things annoy me about most support bots. They ask me to log in before they know what I want. They make me repeat things I already said. And when they cannot help, they keep trying instead of getting me a person. Bookly works in three steps, in that order, on purpose.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3346704"/>
            <a:ext cx="3602736" cy="1828800"/>
          </a:xfrm>
          <a:prstGeom prst="roundRect">
            <a:avLst>
              <a:gd name="adj" fmla="val 3000"/>
            </a:avLst>
          </a:prstGeom>
          <a:solidFill>
            <a:srgbClr val="2A2621"/>
          </a:solidFill>
          <a:ln w="9525">
            <a:solidFill>
              <a:srgbClr val="3D372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348386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AF8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What you need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68096" y="375818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FAF8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policy question is answered straight away. No login, because the answer does not depend on who is asking.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68096" y="4370832"/>
            <a:ext cx="3200400" cy="0"/>
          </a:xfrm>
          <a:prstGeom prst="line">
            <a:avLst/>
          </a:prstGeom>
          <a:noFill/>
          <a:ln w="9525">
            <a:solidFill>
              <a:srgbClr val="3D37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68096" y="4480560"/>
            <a:ext cx="530352" cy="182880"/>
          </a:xfrm>
          <a:prstGeom prst="roundRect">
            <a:avLst>
              <a:gd name="adj" fmla="val 25000"/>
            </a:avLst>
          </a:prstGeom>
          <a:solidFill>
            <a:srgbClr val="3A2A20"/>
          </a:solidFill>
          <a:ln w="9525">
            <a:solidFill>
              <a:srgbClr val="D98D6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4480560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spc="50" kern="0" dirty="0">
                <a:solidFill>
                  <a:srgbClr val="D98D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endParaRPr lang="en-US" sz="600" dirty="0"/>
          </a:p>
        </p:txBody>
      </p:sp>
      <p:sp>
        <p:nvSpPr>
          <p:cNvPr id="11" name="Text 9"/>
          <p:cNvSpPr/>
          <p:nvPr/>
        </p:nvSpPr>
        <p:spPr>
          <a:xfrm>
            <a:off x="1371600" y="4443984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A79F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Proposes the intent.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768096" y="4809744"/>
            <a:ext cx="530352" cy="182880"/>
          </a:xfrm>
          <a:prstGeom prst="roundRect">
            <a:avLst>
              <a:gd name="adj" fmla="val 25000"/>
            </a:avLst>
          </a:prstGeom>
          <a:solidFill>
            <a:srgbClr val="16281E"/>
          </a:solidFill>
          <a:ln w="9525">
            <a:solidFill>
              <a:srgbClr val="63B98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8096" y="4809744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spc="50" kern="0" dirty="0">
                <a:solidFill>
                  <a:srgbClr val="63B9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</a:t>
            </a:r>
            <a:endParaRPr lang="en-US" sz="600" dirty="0"/>
          </a:p>
        </p:txBody>
      </p:sp>
      <p:sp>
        <p:nvSpPr>
          <p:cNvPr id="14" name="Text 12"/>
          <p:cNvSpPr/>
          <p:nvPr/>
        </p:nvSpPr>
        <p:spPr>
          <a:xfrm>
            <a:off x="1371600" y="477316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A79F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Owns the confidence floor and the routing table.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43400" y="3346704"/>
            <a:ext cx="3602736" cy="1828800"/>
          </a:xfrm>
          <a:prstGeom prst="roundRect">
            <a:avLst>
              <a:gd name="adj" fmla="val 3000"/>
            </a:avLst>
          </a:prstGeom>
          <a:solidFill>
            <a:srgbClr val="2A2621"/>
          </a:solidFill>
          <a:ln w="9525">
            <a:solidFill>
              <a:srgbClr val="3D372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4568" y="348386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AF8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Who you are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44568" y="375818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FAF8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 and ZIP once. Give all of it in one sentence and you are not asked for any of it again.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44568" y="4370832"/>
            <a:ext cx="3200400" cy="0"/>
          </a:xfrm>
          <a:prstGeom prst="line">
            <a:avLst/>
          </a:prstGeom>
          <a:noFill/>
          <a:ln w="9525">
            <a:solidFill>
              <a:srgbClr val="3D372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44568" y="4480560"/>
            <a:ext cx="530352" cy="182880"/>
          </a:xfrm>
          <a:prstGeom prst="roundRect">
            <a:avLst>
              <a:gd name="adj" fmla="val 25000"/>
            </a:avLst>
          </a:prstGeom>
          <a:solidFill>
            <a:srgbClr val="3A2A20"/>
          </a:solidFill>
          <a:ln w="9525">
            <a:solidFill>
              <a:srgbClr val="D98D6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44568" y="4480560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spc="50" kern="0" dirty="0">
                <a:solidFill>
                  <a:srgbClr val="D98D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5148072" y="4443984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A79F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Collects the two factors.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544568" y="4809744"/>
            <a:ext cx="530352" cy="182880"/>
          </a:xfrm>
          <a:prstGeom prst="roundRect">
            <a:avLst>
              <a:gd name="adj" fmla="val 25000"/>
            </a:avLst>
          </a:prstGeom>
          <a:solidFill>
            <a:srgbClr val="16281E"/>
          </a:solidFill>
          <a:ln w="9525">
            <a:solidFill>
              <a:srgbClr val="63B98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44568" y="4809744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spc="50" kern="0" dirty="0">
                <a:solidFill>
                  <a:srgbClr val="63B9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5148072" y="477316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A79F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Compares them and mints a scoped token.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8119872" y="3346704"/>
            <a:ext cx="3602736" cy="1828800"/>
          </a:xfrm>
          <a:prstGeom prst="roundRect">
            <a:avLst>
              <a:gd name="adj" fmla="val 3000"/>
            </a:avLst>
          </a:prstGeom>
          <a:solidFill>
            <a:srgbClr val="2A2621"/>
          </a:solidFill>
          <a:ln w="9525">
            <a:solidFill>
              <a:srgbClr val="3D372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21040" y="348386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AF8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Serve you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321040" y="375818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FAF8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open orders? It asks which one. Outside the return window? A clear no, with the arithmetic. It does not stall.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8321040" y="4370832"/>
            <a:ext cx="3200400" cy="0"/>
          </a:xfrm>
          <a:prstGeom prst="line">
            <a:avLst/>
          </a:prstGeom>
          <a:noFill/>
          <a:ln w="9525">
            <a:solidFill>
              <a:srgbClr val="3D372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21040" y="4480560"/>
            <a:ext cx="530352" cy="182880"/>
          </a:xfrm>
          <a:prstGeom prst="roundRect">
            <a:avLst>
              <a:gd name="adj" fmla="val 25000"/>
            </a:avLst>
          </a:prstGeom>
          <a:solidFill>
            <a:srgbClr val="3A2A20"/>
          </a:solidFill>
          <a:ln w="9525">
            <a:solidFill>
              <a:srgbClr val="D98D6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321040" y="4480560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spc="50" kern="0" dirty="0">
                <a:solidFill>
                  <a:srgbClr val="D98D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8924544" y="4443984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A79F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Picks the tool and writes the reply.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8321040" y="4809744"/>
            <a:ext cx="530352" cy="182880"/>
          </a:xfrm>
          <a:prstGeom prst="roundRect">
            <a:avLst>
              <a:gd name="adj" fmla="val 25000"/>
            </a:avLst>
          </a:prstGeom>
          <a:solidFill>
            <a:srgbClr val="16281E"/>
          </a:solidFill>
          <a:ln w="9525">
            <a:solidFill>
              <a:srgbClr val="63B98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21040" y="4809744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spc="50" kern="0" dirty="0">
                <a:solidFill>
                  <a:srgbClr val="63B9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924544" y="477316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A79F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Decides which tools exist at all.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566928" y="535838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50" dirty="0">
                <a:solidFill>
                  <a:srgbClr val="FAF8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order is what makes it safe to ship. </a:t>
            </a:r>
            <a:pPr indent="0" marL="0">
              <a:lnSpc>
                <a:spcPts val="2200"/>
              </a:lnSpc>
              <a:buNone/>
            </a:pPr>
            <a:r>
              <a:rPr lang="en-US" sz="1550" b="1" dirty="0">
                <a:solidFill>
                  <a:srgbClr val="D98D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system prompt asking the model not to do something is not a control.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8A4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7772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24"/>
              </a:lnSpc>
              <a:buNone/>
            </a:pPr>
            <a:r>
              <a:rPr lang="en-US" sz="2700" b="1" dirty="0">
                <a:solidFill>
                  <a:srgbClr val="1D1B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each decision actually lives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66420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6F6A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2962656" y="166420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6F6A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3584448" y="166420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6F6A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DECIDED BY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5943600" cy="0"/>
          </a:xfrm>
          <a:prstGeom prst="line">
            <a:avLst/>
          </a:prstGeom>
          <a:noFill/>
          <a:ln w="9525">
            <a:solidFill>
              <a:srgbClr val="E5DF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205740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D1B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intent is this?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962656" y="20574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A4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584448" y="205740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F6A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constrained classification call on a cheaper model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523744"/>
            <a:ext cx="5943600" cy="0"/>
          </a:xfrm>
          <a:prstGeom prst="line">
            <a:avLst/>
          </a:prstGeom>
          <a:noFill/>
          <a:ln w="9525">
            <a:solidFill>
              <a:srgbClr val="E5DF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624328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D1B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this need identity?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962656" y="26243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A4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1→2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584448" y="2624328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F6A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dict in tools/__init__.py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090672"/>
            <a:ext cx="5943600" cy="0"/>
          </a:xfrm>
          <a:prstGeom prst="line">
            <a:avLst/>
          </a:prstGeom>
          <a:noFill/>
          <a:ln w="9525">
            <a:solidFill>
              <a:srgbClr val="E5DF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3191256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D1B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this person who they say?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962656" y="31912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A4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584448" y="3191256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F6A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hmac.compare_digest against Postgres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3657600"/>
            <a:ext cx="5943600" cy="0"/>
          </a:xfrm>
          <a:prstGeom prst="line">
            <a:avLst/>
          </a:prstGeom>
          <a:noFill/>
          <a:ln w="9525">
            <a:solidFill>
              <a:srgbClr val="E5DFD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3758184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D1B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Whose data can be read?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962656" y="375818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A4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2→3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584448" y="3758184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F6A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sub claim of a signed token, server-side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4224528"/>
            <a:ext cx="5943600" cy="0"/>
          </a:xfrm>
          <a:prstGeom prst="line">
            <a:avLst/>
          </a:prstGeom>
          <a:noFill/>
          <a:ln w="9525">
            <a:solidFill>
              <a:srgbClr val="E5DFD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32511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D1B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this return be approved?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962656" y="43251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A4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584448" y="432511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F6A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pure function — 30 days, 90 if damaged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791456"/>
            <a:ext cx="5943600" cy="0"/>
          </a:xfrm>
          <a:prstGeom prst="line">
            <a:avLst/>
          </a:prstGeom>
          <a:noFill/>
          <a:ln w="9525">
            <a:solidFill>
              <a:srgbClr val="E5DF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489204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D1B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do we fetch a human?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962656" y="48920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A4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3584448" y="489204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F6A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results and a loop budget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812280" y="1664208"/>
            <a:ext cx="4800600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>
            <a:solidFill>
              <a:srgbClr val="E5DFD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031736" y="182880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30" kern="0" dirty="0">
                <a:solidFill>
                  <a:srgbClr val="8A4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ORCHESTRATION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7031736" y="2066544"/>
            <a:ext cx="4361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D1B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framework — the loop is the architecture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7031736" y="2350008"/>
            <a:ext cx="43616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F6A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tool-calling loop is fifty lines of Python, not LangChain and not the SDK's runner. It recomputes the tool list on every iteration, so verifying mid-turn widens access for the very next model call. A framework takes the list once per turn — which would make the customer ask twice.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812280" y="3300984"/>
            <a:ext cx="4800600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>
            <a:solidFill>
              <a:srgbClr val="E5DFD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031736" y="346557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30" kern="0" dirty="0">
                <a:solidFill>
                  <a:srgbClr val="8A4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7031736" y="3703320"/>
            <a:ext cx="4361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D1B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Slots, not stages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7031736" y="3986784"/>
            <a:ext cx="43616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F6A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history, session state, Postgres. Someone who gives email, ZIP and order number in one sentence is never walked back through three questions.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812280" y="4937760"/>
            <a:ext cx="4800600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>
            <a:solidFill>
              <a:srgbClr val="E5DFD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510235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30" kern="0" dirty="0">
                <a:solidFill>
                  <a:srgbClr val="8A4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PROMPTS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7031736" y="5340096"/>
            <a:ext cx="4361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D1B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prompt asks; the code enforces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7031736" y="5623560"/>
            <a:ext cx="43616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F6A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Tone, and rules worth stating twice — never assert a fact a tool did not return, never guess an email. The return windows and the tool gating are NOT in here. If the model ignored every word of it, you would get a clumsier reply, not a policy breach.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8A4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7772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12"/>
              </a:lnSpc>
              <a:buNone/>
            </a:pPr>
            <a:r>
              <a:rPr lang="en-US" sz="2600" b="1" dirty="0">
                <a:solidFill>
                  <a:srgbClr val="1D1B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set per step — and not one of them is a sentence in a prompt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63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0"/>
              </a:lnSpc>
              <a:buNone/>
            </a:pPr>
            <a:r>
              <a:rPr lang="en-US" sz="1350" dirty="0">
                <a:solidFill>
                  <a:srgbClr val="6F6A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 are not friction here. They are what lets me promise the things on the first slide and still hand the system to a security reviewer.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11680"/>
            <a:ext cx="3602736" cy="283464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9525">
            <a:solidFill>
              <a:srgbClr val="E5DF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194560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8A4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 · WHAT YOU NEED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86384" y="2487168"/>
            <a:ext cx="316382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6F6A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is its own constrained call, not a side effect of generation.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6F6A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 under 0.6 asks a clarifying question instead of guessing.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6F6A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 the intent is unclear, no customer-data tool is sent at all.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6F6A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 router fails it falls back to keywords — never to “unclear”, which would silently disarm the agent.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43400" y="2011680"/>
            <a:ext cx="3602736" cy="283464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9525">
            <a:solidFill>
              <a:srgbClr val="E5DF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62856" y="2194560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8A4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 · WHO YOU ARE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562856" y="2487168"/>
            <a:ext cx="316382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6F6A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never compares the ZIP. It receives a boolean.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6F6A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wrong ZIP and an unknown email fail identically — no account-enumeration oracle.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6F6A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attempts, then locked — and verify_customer disappears from the tool list.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6F6A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token never enters the transcript, so it cannot be echoed back out.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119872" y="2011680"/>
            <a:ext cx="3602736" cy="283464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9525">
            <a:solidFill>
              <a:srgbClr val="E5DF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39328" y="2194560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8A4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 · SERVE YOU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8339328" y="2487168"/>
            <a:ext cx="316382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6F6A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are filtered by state before the model sees them.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6F6A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 windows are a pure function; the write path re-validates.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6F6A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fact may be stated that a tool did not return.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6F6A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Loop budget spent, or a tool says human-review — hand off, with the working attached.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66928" y="499262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50" dirty="0">
                <a:solidFill>
                  <a:srgbClr val="1D1B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one of these is a line of Python that runs whether or not the model co-operates. </a:t>
            </a:r>
            <a:pPr indent="0" marL="0">
              <a:lnSpc>
                <a:spcPts val="2200"/>
              </a:lnSpc>
              <a:buNone/>
            </a:pPr>
            <a:r>
              <a:rPr lang="en-US" sz="1550" b="1" dirty="0">
                <a:solidFill>
                  <a:srgbClr val="8A4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is the difference between a guardrail and a wish.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8A4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HEADLINE GUARDRAIL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7772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24"/>
              </a:lnSpc>
              <a:buNone/>
            </a:pPr>
            <a:r>
              <a:rPr lang="en-US" sz="2700" b="1" dirty="0">
                <a:solidFill>
                  <a:srgbClr val="1D1B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token service: a key card cut for one customer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53619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0"/>
              </a:lnSpc>
              <a:buNone/>
            </a:pPr>
            <a:r>
              <a:rPr lang="en-US" sz="1350" dirty="0">
                <a:solidFill>
                  <a:srgbClr val="6F6A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ID at the desk and you get a key card. It opens your room — not the one next door, not the manager's office — and it stops working when you check out. That card is what step 2 issues, and every action in step 3 has to use it. The sub claim is the room number — customer 1 is Sarah.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395728"/>
            <a:ext cx="5431536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>
            <a:solidFill>
              <a:srgbClr val="E5DF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2542032"/>
            <a:ext cx="50292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1D1B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"iss": "bookly-identity",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1D1B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"sub": "1",           &lt;- customers.id: this token IS Sarah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1D1B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"scope": ["orders:read", "returns:write",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1D1B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"notifications:send"],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1D1B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"amr":  ["email", "shipping_zip"],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1D1B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"exp":  iat + 600 }   &lt;- about one conversation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4005072"/>
            <a:ext cx="54315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D1B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no tool accepts a customer id. 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F6A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not a parameter in any schema the model receives. Every scoped read derives it from sub, server-side. There is no argument through which to ask for someone else.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199632" y="2395728"/>
            <a:ext cx="5431536" cy="1133856"/>
          </a:xfrm>
          <a:prstGeom prst="roundRect">
            <a:avLst>
              <a:gd name="adj" fmla="val 4839"/>
            </a:avLst>
          </a:prstGeom>
          <a:solidFill>
            <a:srgbClr val="FFFFFF"/>
          </a:solidFill>
          <a:ln w="9525">
            <a:solidFill>
              <a:srgbClr val="E5DF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0" y="2542032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D1B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verified as Sarah, asked for Marcus's order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D1B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order_number, carrier, tracking_no FROM orders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D1B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WHERE customer_id = 1        &lt;- the same 1 as "sub"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D1B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AND upper(order_number) = upper('BK-10102')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199632" y="3639312"/>
            <a:ext cx="1572768" cy="384048"/>
          </a:xfrm>
          <a:prstGeom prst="roundRect">
            <a:avLst>
              <a:gd name="adj" fmla="val 14286"/>
            </a:avLst>
          </a:prstGeom>
          <a:solidFill>
            <a:srgbClr val="FBE9E7"/>
          </a:solidFill>
          <a:ln w="12700">
            <a:solidFill>
              <a:srgbClr val="9C302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99632" y="3639312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C302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rows · 2.5 ms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199632" y="4151376"/>
            <a:ext cx="5431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D1B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polite refusal is the model behaving well. </a:t>
            </a:r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8A4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empty result is the part that still holds when it doesn't.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5029200"/>
            <a:ext cx="11064240" cy="0"/>
          </a:xfrm>
          <a:prstGeom prst="line">
            <a:avLst/>
          </a:prstGeom>
          <a:noFill/>
          <a:ln w="9525">
            <a:solidFill>
              <a:srgbClr val="E5DF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5157216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b="1" dirty="0">
                <a:solidFill>
                  <a:srgbClr val="1D1B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trade-off, and the production answer: </a:t>
            </a:r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6F6A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minting is hand-rolled, which is not what you would ship. In production this is a token exchange against the IdP you already run — client credentials for the service leg, RFC 8693 for the user leg. The plumbing changes; the property that matters does not.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D1B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D98D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I'D CHANGE FIRST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7772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24"/>
              </a:lnSpc>
              <a:buNone/>
            </a:pPr>
            <a:r>
              <a:rPr lang="en-US" sz="2700" b="1" dirty="0">
                <a:solidFill>
                  <a:srgbClr val="FAF8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what the evals already caught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664208"/>
            <a:ext cx="256032" cy="256032"/>
          </a:xfrm>
          <a:prstGeom prst="ellipse">
            <a:avLst/>
          </a:prstGeom>
          <a:solidFill>
            <a:srgbClr val="3A2A20"/>
          </a:solidFill>
          <a:ln w="9525">
            <a:solidFill>
              <a:srgbClr val="D98D6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6642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8D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50976" y="1627632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AF8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 sessions to Redis.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950976" y="1865376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A79F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Sessions are a dict in memory today. Fine for a prototype, not under load.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66928" y="2322576"/>
            <a:ext cx="256032" cy="256032"/>
          </a:xfrm>
          <a:prstGeom prst="ellipse">
            <a:avLst/>
          </a:prstGeom>
          <a:solidFill>
            <a:srgbClr val="3A2A20"/>
          </a:solidFill>
          <a:ln w="9525">
            <a:solidFill>
              <a:srgbClr val="D98D6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3225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8D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50976" y="2286000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AF8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 the responses.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950976" y="2523744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A79F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biggest remaining latency win. The agent speaks, calls a tool, speaks again — and today the customer waits through all of it before seeing a word.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66928" y="2980944"/>
            <a:ext cx="256032" cy="256032"/>
          </a:xfrm>
          <a:prstGeom prst="ellipse">
            <a:avLst/>
          </a:prstGeom>
          <a:solidFill>
            <a:srgbClr val="3A2A20"/>
          </a:solidFill>
          <a:ln w="9525">
            <a:solidFill>
              <a:srgbClr val="D98D6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9809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8D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950976" y="2944368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AF8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evals against the live model in CI.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950976" y="3182112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A79F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run on the scripted engine, so they prove the orchestration and say nothing about how the model behaves under it.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66928" y="3639312"/>
            <a:ext cx="256032" cy="256032"/>
          </a:xfrm>
          <a:prstGeom prst="ellipse">
            <a:avLst/>
          </a:prstGeom>
          <a:solidFill>
            <a:srgbClr val="3A2A20"/>
          </a:solidFill>
          <a:ln w="9525">
            <a:solidFill>
              <a:srgbClr val="D98D6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36393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8D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50976" y="360273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AF8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 the eval set from production traffic.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50976" y="3840480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A79F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test set is made up. At go-live I would collect real requests and evaluate against those.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66928" y="4297680"/>
            <a:ext cx="256032" cy="256032"/>
          </a:xfrm>
          <a:prstGeom prst="ellipse">
            <a:avLst/>
          </a:prstGeom>
          <a:solidFill>
            <a:srgbClr val="3A2A20"/>
          </a:solidFill>
          <a:ln w="9525">
            <a:solidFill>
              <a:srgbClr val="D98D6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2976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8D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50976" y="4261104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AF8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 the policy engine to the CX team.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950976" y="4498848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A79F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Changing a return window from 30 to 60 days should not need a deploy.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7315200" y="1645920"/>
            <a:ext cx="4297680" cy="3108960"/>
          </a:xfrm>
          <a:prstGeom prst="roundRect">
            <a:avLst>
              <a:gd name="adj" fmla="val 1765"/>
            </a:avLst>
          </a:prstGeom>
          <a:solidFill>
            <a:srgbClr val="2A2621"/>
          </a:solidFill>
          <a:ln w="9525">
            <a:solidFill>
              <a:srgbClr val="3D372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71232" y="184708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30" kern="0" dirty="0">
                <a:solidFill>
                  <a:srgbClr val="D98D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571232" y="2103120"/>
            <a:ext cx="3785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8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checks, and three real bugs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571232" y="2487168"/>
            <a:ext cx="37856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A79F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 scripted conversations assert on the trace — including that a tool was never reachable, not merely never called. Three probes bypass the conversation entirely: token scoping, backend failure, and an attempt to redirect an outbound email.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571232" y="3621024"/>
            <a:ext cx="37856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A79F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caught an order number parsed as a ZIP code, a turn's first message silently dropped, and a schema the API rejects — which had quietly disabled routing on every turn.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66928" y="499262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50" dirty="0">
                <a:solidFill>
                  <a:srgbClr val="FAF8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Deflection rate is a vanity metric if the contained conversations were bad ones. </a:t>
            </a:r>
            <a:pPr indent="0" marL="0">
              <a:lnSpc>
                <a:spcPts val="2200"/>
              </a:lnSpc>
              <a:buNone/>
            </a:pPr>
            <a:r>
              <a:rPr lang="en-US" sz="1550" b="1" dirty="0">
                <a:solidFill>
                  <a:srgbClr val="D98D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assert the properties that survive a model swap.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8A4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IF ASKED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7772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24"/>
              </a:lnSpc>
              <a:buNone/>
            </a:pPr>
            <a:r>
              <a:rPr lang="en-US" sz="2700" b="1" dirty="0">
                <a:solidFill>
                  <a:srgbClr val="1D1B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token service, and what would replace it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645920"/>
            <a:ext cx="5431536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9525">
            <a:solidFill>
              <a:srgbClr val="E5DF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828800"/>
            <a:ext cx="4956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8A4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· HAND-ROLLED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04672" y="2103120"/>
            <a:ext cx="495604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3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6F6A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hmac.compare_digest against my own table.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6F6A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HS256 — one shared secret both signs and verifies, so anything that can check a token can also mint one.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6F6A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amr is self-attested: my word, in a token I signed, for how I checked.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6F6A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revocation. A JWT is valid until exp — the 10-minute TTL is damage limitation, not a kill switch.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6F6A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key rotation, no kid. Rotating invalidates every live token at once.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6F6A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Factors are knowledge-based: email plus a ZIP.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199632" y="1645920"/>
            <a:ext cx="5431536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9525">
            <a:solidFill>
              <a:srgbClr val="E5DF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37376" y="1828800"/>
            <a:ext cx="4956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8A4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· THE IDP YOU ALREADY RUN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437376" y="2103120"/>
            <a:ext cx="495604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3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6F6A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authentication by private_key_jwt or mTLS — or workload identity, and no static credential at all.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6F6A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RFC 8693 token exchange mints a token scoped to one customer, audienced to the order service.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6F6A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act claim records the delegation — the agent, acting for Sarah — revocable without touching her account.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6F6A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Asymmetric signing plus JWKS: verifiers can verify and can never mint.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6F6A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IdP owns MFA, lockout, risk signals, revocation and the audit trail.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6F6A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Factors become possession-based: a link, a code, a passkey.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" y="504748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50" dirty="0">
                <a:solidFill>
                  <a:srgbClr val="1D1B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seam is </a:t>
            </a:r>
            <a:pPr indent="0" marL="0">
              <a:lnSpc>
                <a:spcPts val="2200"/>
              </a:lnSpc>
              <a:buNone/>
            </a:pPr>
            <a:r>
              <a:rPr lang="en-US" sz="1550" b="1" dirty="0">
                <a:solidFill>
                  <a:srgbClr val="8A4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104 lines and two functions</a:t>
            </a:r>
            <a:pPr indent="0" marL="0">
              <a:lnSpc>
                <a:spcPts val="2200"/>
              </a:lnSpc>
              <a:buNone/>
            </a:pPr>
            <a:r>
              <a:rPr lang="en-US" sz="1550" dirty="0">
                <a:solidFill>
                  <a:srgbClr val="1D1B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twelve call sites, all through that pair. The swap makes identity.py smaller, and none of this moves: no tool accepts a customer id, every read still derives from sub, tools stay gated on auth state.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Bookly support agent — architecture &amp; decisions</dc:title>
  <dc:subject>PptxGenJS Presentation</dc:subject>
  <dc:creator>Bookly</dc:creator>
  <cp:lastModifiedBy>Bookly</cp:lastModifiedBy>
  <cp:revision>1</cp:revision>
  <dcterms:created xsi:type="dcterms:W3CDTF">2026-08-22T13:31:49Z</dcterms:created>
  <dcterms:modified xsi:type="dcterms:W3CDTF">2026-08-22T13:31:49Z</dcterms:modified>
</cp:coreProperties>
</file>